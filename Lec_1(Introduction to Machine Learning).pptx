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81" r:id="rId5"/>
    <p:sldId id="259" r:id="rId6"/>
    <p:sldId id="260" r:id="rId7"/>
    <p:sldId id="261" r:id="rId8"/>
    <p:sldId id="28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3" r:id="rId19"/>
    <p:sldId id="271" r:id="rId20"/>
    <p:sldId id="272" r:id="rId21"/>
    <p:sldId id="273" r:id="rId22"/>
    <p:sldId id="274" r:id="rId23"/>
    <p:sldId id="284" r:id="rId24"/>
    <p:sldId id="275" r:id="rId25"/>
    <p:sldId id="276" r:id="rId26"/>
    <p:sldId id="277" r:id="rId27"/>
    <p:sldId id="278" r:id="rId28"/>
    <p:sldId id="279" r:id="rId29"/>
    <p:sldId id="285" r:id="rId30"/>
    <p:sldId id="280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35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A13BC-163C-41D8-8668-FA557388F7D2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AC563-48CE-42D2-91E4-30260F659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23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Points </a:t>
            </a:r>
          </a:p>
          <a:p>
            <a:r>
              <a:rPr lang="en-US" dirty="0"/>
              <a:t>Few labels, many unlabeled samples</a:t>
            </a:r>
          </a:p>
          <a:p>
            <a:r>
              <a:rPr lang="en-US" dirty="0"/>
              <a:t>Better accuracy than unsupervised</a:t>
            </a:r>
          </a:p>
          <a:p>
            <a:r>
              <a:rPr lang="en-US" dirty="0"/>
              <a:t>Cheaper than fully supervised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AC563-48CE-42D2-91E4-30260F659961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A444-B0E7-7AB4-E036-5A54427AB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CBDCE-2F04-0F31-DDA0-2394C6166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29451-6732-12F3-912D-84148CFD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73DA8-5B11-EC08-7986-36140BEA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153EE-647C-2AF7-97AD-ECEBF09D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9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AA60-968E-C1A4-04D6-FBA82F8A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027F0-C55B-0236-D85B-C7F693C13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F7129-D2CF-348B-AF92-97D9F9A6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92C81-107A-FD6B-4B0D-65546BAB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E4097-2467-B32C-C8FA-49ECCB02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2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B418-95E4-11D3-3800-D86D1BEF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5286E-9813-2817-7691-50B9C65F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7D745-E06A-EBC3-8FB2-0BDF7AEB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44A2E-797B-5AE8-1581-4F6ECA0F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44D5-E2ED-78AA-004F-9BCD8F47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36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3590-CADE-4B03-159A-E87EB83F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E8AE3-2F6F-DD91-E22B-7F14A56A0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C3F5F-5DEC-0FFA-844D-FF5BD61F0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50743-186F-C2AD-CA8A-42C0FAC8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29948-FC91-D266-15BD-4E27F3D3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F4BEC-6608-B867-50EC-4ED14957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81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35D3-BEE6-2516-5896-BB424DCD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BC95-0DA3-F53A-E95D-6F7CE0D63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D4157-97A9-5F57-CE66-DD51BADED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29207-EFEF-EBA1-E435-A47A90C0B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3AF0B-A9A1-7667-CA46-46D2B4AC7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73615-66EB-6856-E05D-A2B8C92E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3FB57-60EE-B373-BC3E-17544CB95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5AF39-4A7A-CA77-32B7-0BE17875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64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F166-7397-9501-AD74-17552FCD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D11F7-A9E1-6766-92CA-B3825388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31718-19AC-9E29-1E2B-95D41EDA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AFF50-A125-35FB-F7C5-8B4D3619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3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7CCC0-B29E-32C4-A921-BF895CA4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43B3B-DBE7-7622-C71D-FF9E0E9E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114D5-61DA-5421-F628-2D9B2797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7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62FA-85FF-937E-F8A7-473D22A89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71011-B201-CC38-6572-DB4EAF9DC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F83EC-9456-731A-241C-A6036DA94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15360-6DE6-E180-B3B1-0125FE52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2704D-A233-4ED8-D0D3-407D66BB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554E5-4AC3-8443-4230-A2A86061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0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A776-A459-AC86-BF73-DD13FC7D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BD16A-A8E8-8AC6-1FBE-B87A29B86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4701E-A6CC-D6F3-C1F0-C5C6441AE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1F86E-1D90-A3A4-37DA-4D8E1354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B2D08-87B8-6628-4747-B3056AF2E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234CC-50FF-6307-D078-638D8594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16C6-58AA-E18D-B1AC-460082D90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16DD9-7040-02CE-95BF-DF016ECEA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7832-0B3C-7E30-F19D-E53A212D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86675-B988-07BF-B9EF-9D78D1960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2D8FC-DA62-1BE3-EEA6-93538279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2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3BA20-EBFC-FAD1-D311-363EA0521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F150F-5D94-F635-2EB0-9A527E6BE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13162-8295-1002-8A2A-DC8CE1E8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4A1B7-3968-D1E8-8DF9-AE591E88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D1ABB-51AE-55A3-D771-ADB5A619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24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2D5CB-5F78-5E32-BFE4-90F5B6299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29DE7-20A4-E906-9F91-4C08870CA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998D2-B8A3-4331-E641-2454DD03F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F1FFB-FCCD-4B22-A5C1-7A3BCAEBACE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40529-9616-0598-BB00-CA774E071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ACB01-07DF-B48F-E05D-E88732328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917CA-3197-44CB-A63B-1275C7FFE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70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B769-41CD-A865-2B54-6B521DFC76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3D8AC-D656-A686-41D9-16392EE030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03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3A63-2874-1992-B372-572DF480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machine learning?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22CA-97DF-A5D0-045E-086040A87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Machine learning is a subset of artificial intelligence (AI) where machines learn from data instead of being programmed with fixed rules.</a:t>
            </a:r>
          </a:p>
          <a:p>
            <a:r>
              <a:rPr lang="en-US" dirty="0"/>
              <a:t>In ML, we give: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Algorithms</a:t>
            </a:r>
          </a:p>
          <a:p>
            <a:endParaRPr lang="en-US" dirty="0"/>
          </a:p>
          <a:p>
            <a:r>
              <a:rPr lang="en-US" dirty="0"/>
              <a:t>The system finds patterns and makes decisions or predictions on its own.</a:t>
            </a:r>
          </a:p>
          <a:p>
            <a:r>
              <a:rPr lang="en-US" dirty="0"/>
              <a:t>Simple Example</a:t>
            </a:r>
          </a:p>
          <a:p>
            <a:r>
              <a:rPr lang="en-US" dirty="0"/>
              <a:t>Email spam filter</a:t>
            </a:r>
          </a:p>
          <a:p>
            <a:r>
              <a:rPr lang="en-US" dirty="0"/>
              <a:t>Student result prediction</a:t>
            </a:r>
          </a:p>
          <a:p>
            <a:r>
              <a:rPr lang="en-US" dirty="0"/>
              <a:t>Movie recommendation on Netflix</a:t>
            </a:r>
          </a:p>
          <a:p>
            <a:endParaRPr lang="en-US" dirty="0"/>
          </a:p>
          <a:p>
            <a:r>
              <a:rPr lang="en-US" dirty="0"/>
              <a:t>The more data it gets, the better it learns.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96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oster of a diagram of a robot&#10;&#10;AI-generated content may be incorrect.">
            <a:extLst>
              <a:ext uri="{FF2B5EF4-FFF2-40B4-BE49-F238E27FC236}">
                <a16:creationId xmlns:a16="http://schemas.microsoft.com/office/drawing/2014/main" id="{C7030314-58C1-060C-DCFA-747A43ECD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3982" y="643466"/>
            <a:ext cx="384403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7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140503-4F34-EDDE-E553-752B108E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Relationship Between AI, ML, and DL</a:t>
            </a:r>
          </a:p>
        </p:txBody>
      </p:sp>
      <p:pic>
        <p:nvPicPr>
          <p:cNvPr id="5" name="Content Placeholder 4" descr="A diagram of machine learning">
            <a:extLst>
              <a:ext uri="{FF2B5EF4-FFF2-40B4-BE49-F238E27FC236}">
                <a16:creationId xmlns:a16="http://schemas.microsoft.com/office/drawing/2014/main" id="{375721CE-55F8-04FB-EAFD-B5B437D14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007" b="11637"/>
          <a:stretch>
            <a:fillRect/>
          </a:stretch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96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3063C-EF78-85D1-723A-3AE1616D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Artificial Intelligence</a:t>
            </a:r>
            <a:r>
              <a:rPr lang="en-US" dirty="0"/>
              <a:t> - </a:t>
            </a:r>
          </a:p>
          <a:p>
            <a:r>
              <a:rPr lang="en-US" dirty="0"/>
              <a:t>AI means creating machines that can:</a:t>
            </a:r>
          </a:p>
          <a:p>
            <a:r>
              <a:rPr lang="en-US" dirty="0"/>
              <a:t>Think like humans</a:t>
            </a:r>
          </a:p>
          <a:p>
            <a:r>
              <a:rPr lang="en-US" dirty="0"/>
              <a:t>Make decisions</a:t>
            </a:r>
          </a:p>
          <a:p>
            <a:r>
              <a:rPr lang="en-US" dirty="0"/>
              <a:t>Solve problems</a:t>
            </a:r>
          </a:p>
          <a:p>
            <a:r>
              <a:rPr lang="en-US" dirty="0"/>
              <a:t>Understand language</a:t>
            </a:r>
          </a:p>
          <a:p>
            <a:r>
              <a:rPr lang="en-US" b="1" dirty="0"/>
              <a:t>Examples of AI</a:t>
            </a:r>
          </a:p>
          <a:p>
            <a:r>
              <a:rPr lang="en-US" dirty="0"/>
              <a:t>Chatbots</a:t>
            </a:r>
          </a:p>
          <a:p>
            <a:r>
              <a:rPr lang="en-US" dirty="0"/>
              <a:t>Face recognition</a:t>
            </a:r>
          </a:p>
          <a:p>
            <a:r>
              <a:rPr lang="en-US" dirty="0"/>
              <a:t>Self-driving cars</a:t>
            </a:r>
          </a:p>
          <a:p>
            <a:r>
              <a:rPr lang="en-US" dirty="0"/>
              <a:t>Voice assistants (Alexa, Siri)</a:t>
            </a:r>
          </a:p>
          <a:p>
            <a:r>
              <a:rPr lang="en-US" dirty="0"/>
              <a:t> </a:t>
            </a:r>
            <a:r>
              <a:rPr lang="en-US" b="1" dirty="0"/>
              <a:t>AI does NOT always learn from data.</a:t>
            </a:r>
            <a:br>
              <a:rPr lang="en-US" dirty="0"/>
            </a:br>
            <a:r>
              <a:rPr lang="en-US" dirty="0"/>
              <a:t>Some AI systems work using </a:t>
            </a:r>
            <a:r>
              <a:rPr lang="en-US" b="1" dirty="0"/>
              <a:t>rules written by humans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14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49B18-E1BB-31DA-594B-D3B7EB5F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71F85-849B-501A-07BF-1BD6082E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46" y="240164"/>
            <a:ext cx="5875282" cy="6617836"/>
          </a:xfrm>
        </p:spPr>
        <p:txBody>
          <a:bodyPr anchor="t">
            <a:normAutofit lnSpcReduction="10000"/>
          </a:bodyPr>
          <a:lstStyle/>
          <a:p>
            <a:r>
              <a:rPr lang="en-US" sz="1400" b="1" dirty="0">
                <a:solidFill>
                  <a:srgbClr val="595959"/>
                </a:solidFill>
              </a:rPr>
              <a:t>Deep Learning (DL) - </a:t>
            </a:r>
          </a:p>
          <a:p>
            <a:r>
              <a:rPr lang="en-US" sz="1400" dirty="0">
                <a:solidFill>
                  <a:srgbClr val="595959"/>
                </a:solidFill>
              </a:rPr>
              <a:t>Deep Learning is a subset of Machine Learning.</a:t>
            </a:r>
            <a:r>
              <a:rPr lang="en-US" sz="1400" dirty="0"/>
              <a:t> It </a:t>
            </a:r>
            <a:r>
              <a:rPr lang="en-US" sz="1400" dirty="0" err="1"/>
              <a:t>utilises</a:t>
            </a:r>
            <a:r>
              <a:rPr lang="en-US" sz="1400" dirty="0"/>
              <a:t> multiple layers of neural networks to automatically learn patterns from vast amounts of data and make predictions.</a:t>
            </a:r>
            <a:endParaRPr lang="en-US" sz="1400" dirty="0">
              <a:solidFill>
                <a:srgbClr val="595959"/>
              </a:solidFill>
            </a:endParaRPr>
          </a:p>
          <a:p>
            <a:r>
              <a:rPr lang="en-US" sz="1400" dirty="0">
                <a:solidFill>
                  <a:srgbClr val="595959"/>
                </a:solidFill>
              </a:rPr>
              <a:t>DL works best with:</a:t>
            </a:r>
          </a:p>
          <a:p>
            <a:r>
              <a:rPr lang="en-US" sz="1400" dirty="0">
                <a:solidFill>
                  <a:srgbClr val="595959"/>
                </a:solidFill>
              </a:rPr>
              <a:t>Large data</a:t>
            </a:r>
          </a:p>
          <a:p>
            <a:r>
              <a:rPr lang="en-US" sz="1400" dirty="0">
                <a:solidFill>
                  <a:srgbClr val="595959"/>
                </a:solidFill>
              </a:rPr>
              <a:t>Images</a:t>
            </a:r>
          </a:p>
          <a:p>
            <a:r>
              <a:rPr lang="en-US" sz="1400" dirty="0">
                <a:solidFill>
                  <a:srgbClr val="595959"/>
                </a:solidFill>
              </a:rPr>
              <a:t>Audio</a:t>
            </a:r>
          </a:p>
          <a:p>
            <a:r>
              <a:rPr lang="en-US" sz="1400" dirty="0">
                <a:solidFill>
                  <a:srgbClr val="595959"/>
                </a:solidFill>
              </a:rPr>
              <a:t>Videos</a:t>
            </a:r>
          </a:p>
          <a:p>
            <a:endParaRPr lang="en-US" sz="1400" dirty="0">
              <a:solidFill>
                <a:srgbClr val="595959"/>
              </a:solidFill>
            </a:endParaRPr>
          </a:p>
          <a:p>
            <a:r>
              <a:rPr lang="en-US" sz="1400" b="1" dirty="0">
                <a:solidFill>
                  <a:srgbClr val="595959"/>
                </a:solidFill>
              </a:rPr>
              <a:t>Examples of DL</a:t>
            </a:r>
          </a:p>
          <a:p>
            <a:r>
              <a:rPr lang="en-US" sz="1400" dirty="0">
                <a:solidFill>
                  <a:srgbClr val="595959"/>
                </a:solidFill>
              </a:rPr>
              <a:t>Face recognition</a:t>
            </a:r>
          </a:p>
          <a:p>
            <a:r>
              <a:rPr lang="en-US" sz="1400" dirty="0">
                <a:solidFill>
                  <a:srgbClr val="595959"/>
                </a:solidFill>
              </a:rPr>
              <a:t>Speech recognition</a:t>
            </a:r>
          </a:p>
          <a:p>
            <a:r>
              <a:rPr lang="en-US" sz="1400" dirty="0">
                <a:solidFill>
                  <a:srgbClr val="595959"/>
                </a:solidFill>
              </a:rPr>
              <a:t>Medical image analysis</a:t>
            </a:r>
          </a:p>
          <a:p>
            <a:r>
              <a:rPr lang="en-US" sz="1400" dirty="0">
                <a:solidFill>
                  <a:srgbClr val="595959"/>
                </a:solidFill>
              </a:rPr>
              <a:t>Self-driving cars</a:t>
            </a:r>
          </a:p>
          <a:p>
            <a:endParaRPr lang="en-IN" sz="1400" dirty="0">
              <a:solidFill>
                <a:srgbClr val="595959"/>
              </a:solidFill>
            </a:endParaRPr>
          </a:p>
          <a:p>
            <a:r>
              <a:rPr lang="en-US" sz="1400" dirty="0">
                <a:solidFill>
                  <a:srgbClr val="595959"/>
                </a:solidFill>
              </a:rPr>
              <a:t>The input layer takes basic information (numbers or features).</a:t>
            </a:r>
          </a:p>
          <a:p>
            <a:r>
              <a:rPr lang="en-US" sz="1400" dirty="0">
                <a:solidFill>
                  <a:srgbClr val="595959"/>
                </a:solidFill>
              </a:rPr>
              <a:t>This information moves to hidden layer 1, where neurons combine inputs and find simple patterns.</a:t>
            </a:r>
          </a:p>
          <a:p>
            <a:r>
              <a:rPr lang="en-US" sz="1400" dirty="0">
                <a:solidFill>
                  <a:srgbClr val="595959"/>
                </a:solidFill>
              </a:rPr>
              <a:t>In hidden layer 2, these patterns are refined into more meaningful ones.</a:t>
            </a:r>
          </a:p>
          <a:p>
            <a:r>
              <a:rPr lang="en-US" sz="1400" dirty="0">
                <a:solidFill>
                  <a:srgbClr val="595959"/>
                </a:solidFill>
              </a:rPr>
              <a:t>Each connection has a weight that controls how important the information is.</a:t>
            </a:r>
          </a:p>
          <a:p>
            <a:r>
              <a:rPr lang="en-US" sz="1400" dirty="0">
                <a:solidFill>
                  <a:srgbClr val="595959"/>
                </a:solidFill>
              </a:rPr>
              <a:t>The output layer gives the final result or prediction.</a:t>
            </a:r>
            <a:endParaRPr lang="en-IN" sz="1400" dirty="0">
              <a:solidFill>
                <a:srgbClr val="595959"/>
              </a:solidFill>
            </a:endParaRP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3AAF9B5F-B408-AEAE-327C-E93E56D7F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1946708"/>
            <a:ext cx="4797056" cy="301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5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0968E-2DB3-C40F-8417-2A528004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485A-A9BD-95E1-F844-970400DDD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/>
              <a:t>Difference Between AI, ML, and DL</a:t>
            </a:r>
          </a:p>
          <a:p>
            <a:pPr marL="0" indent="0">
              <a:buNone/>
            </a:pPr>
            <a:endParaRPr lang="en-IN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0B4BDD-25FA-AAA5-CEBA-2F0EB56E4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28976"/>
              </p:ext>
            </p:extLst>
          </p:nvPr>
        </p:nvGraphicFramePr>
        <p:xfrm>
          <a:off x="557784" y="2811836"/>
          <a:ext cx="11164826" cy="3328311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2762910">
                  <a:extLst>
                    <a:ext uri="{9D8B030D-6E8A-4147-A177-3AD203B41FA5}">
                      <a16:colId xmlns:a16="http://schemas.microsoft.com/office/drawing/2014/main" val="3892247480"/>
                    </a:ext>
                  </a:extLst>
                </a:gridCol>
                <a:gridCol w="2876096">
                  <a:extLst>
                    <a:ext uri="{9D8B030D-6E8A-4147-A177-3AD203B41FA5}">
                      <a16:colId xmlns:a16="http://schemas.microsoft.com/office/drawing/2014/main" val="2130670889"/>
                    </a:ext>
                  </a:extLst>
                </a:gridCol>
                <a:gridCol w="2762910">
                  <a:extLst>
                    <a:ext uri="{9D8B030D-6E8A-4147-A177-3AD203B41FA5}">
                      <a16:colId xmlns:a16="http://schemas.microsoft.com/office/drawing/2014/main" val="836199414"/>
                    </a:ext>
                  </a:extLst>
                </a:gridCol>
                <a:gridCol w="2762910">
                  <a:extLst>
                    <a:ext uri="{9D8B030D-6E8A-4147-A177-3AD203B41FA5}">
                      <a16:colId xmlns:a16="http://schemas.microsoft.com/office/drawing/2014/main" val="3782343178"/>
                    </a:ext>
                  </a:extLst>
                </a:gridCol>
              </a:tblGrid>
              <a:tr h="43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Artificial Intelligence (AI)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Machine Learning (ML)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Deep Learning (DL)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932768"/>
                  </a:ext>
                </a:extLst>
              </a:tr>
              <a:tr h="695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Making machines intelligent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Machines learn from data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Learning using neural networks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91316"/>
                  </a:ext>
                </a:extLst>
              </a:tr>
              <a:tr h="43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Very broad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Subset of AI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Subset of ML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718521"/>
                  </a:ext>
                </a:extLst>
              </a:tr>
              <a:tr h="43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Data dependency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Not always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254472"/>
                  </a:ext>
                </a:extLst>
              </a:tr>
              <a:tr h="43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Human rules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Can use rules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Less rule-based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No manual rules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508069"/>
                  </a:ext>
                </a:extLst>
              </a:tr>
              <a:tr h="43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Medium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Very High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635844"/>
                  </a:ext>
                </a:extLst>
              </a:tr>
              <a:tr h="43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Examples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Chatbot, Game AI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Spam filter, Prediction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bg1"/>
                          </a:solidFill>
                        </a:rPr>
                        <a:t>Face &amp; speech recognition</a:t>
                      </a:r>
                    </a:p>
                  </a:txBody>
                  <a:tcPr marL="96101" marR="96101" marT="48051" marB="9610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70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70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F786-806A-2D09-5ECC-C4BE6EE9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Learning: 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E3B2F-D812-B7EC-D338-4954474F5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 - </a:t>
            </a:r>
          </a:p>
          <a:p>
            <a:r>
              <a:rPr lang="en-US" b="1" dirty="0"/>
              <a:t>Data</a:t>
            </a:r>
            <a:r>
              <a:rPr lang="en-US" dirty="0"/>
              <a:t> is the raw information given to the machine.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Student marks</a:t>
            </a:r>
          </a:p>
          <a:p>
            <a:r>
              <a:rPr lang="en-US" dirty="0"/>
              <a:t>House prices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Emails</a:t>
            </a:r>
          </a:p>
          <a:p>
            <a:r>
              <a:rPr lang="en-US" dirty="0"/>
              <a:t>Sensor readings</a:t>
            </a:r>
          </a:p>
          <a:p>
            <a:r>
              <a:rPr lang="en-US" b="1" dirty="0"/>
              <a:t>Note:</a:t>
            </a:r>
            <a:br>
              <a:rPr lang="en-US" dirty="0"/>
            </a:br>
            <a:r>
              <a:rPr lang="en-US" dirty="0"/>
              <a:t>No data  → No Machine Learning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59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150A-D771-F201-BE9E-FA43F629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75F3D-FD64-06CF-1033-203AD9A3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Dataset</a:t>
            </a:r>
          </a:p>
          <a:p>
            <a:r>
              <a:rPr lang="en-US" dirty="0"/>
              <a:t>A </a:t>
            </a:r>
            <a:r>
              <a:rPr lang="en-US" b="1" dirty="0"/>
              <a:t>dataset</a:t>
            </a:r>
            <a:r>
              <a:rPr lang="en-US" dirty="0"/>
              <a:t> is a </a:t>
            </a:r>
            <a:r>
              <a:rPr lang="en-US" b="1" dirty="0"/>
              <a:t>collection of data</a:t>
            </a:r>
            <a:r>
              <a:rPr lang="en-US" dirty="0"/>
              <a:t>.</a:t>
            </a:r>
          </a:p>
          <a:p>
            <a:r>
              <a:rPr lang="en-US" dirty="0"/>
              <a:t>Example (House Price Dataset):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Features (Independent Variables)</a:t>
            </a:r>
          </a:p>
          <a:p>
            <a:r>
              <a:rPr lang="en-US" b="1" dirty="0"/>
              <a:t>Features</a:t>
            </a:r>
            <a:r>
              <a:rPr lang="en-US" dirty="0"/>
              <a:t> are the </a:t>
            </a:r>
            <a:r>
              <a:rPr lang="en-US" b="1" dirty="0"/>
              <a:t>input columns</a:t>
            </a:r>
            <a:r>
              <a:rPr lang="en-US" dirty="0"/>
              <a:t> used to make predictions.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Area</a:t>
            </a:r>
          </a:p>
          <a:p>
            <a:r>
              <a:rPr lang="en-US" dirty="0"/>
              <a:t>Number of bedrooms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 In the above table:</a:t>
            </a:r>
          </a:p>
          <a:p>
            <a:r>
              <a:rPr lang="en-US" b="1" dirty="0"/>
              <a:t>Area</a:t>
            </a:r>
            <a:r>
              <a:rPr lang="en-US" dirty="0"/>
              <a:t> and </a:t>
            </a:r>
            <a:r>
              <a:rPr lang="en-US" b="1" dirty="0"/>
              <a:t>Bedrooms</a:t>
            </a:r>
            <a:r>
              <a:rPr lang="en-US" dirty="0"/>
              <a:t> = Features (If the objective is to predict the house price)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8BA178-9D7D-3DF9-6D07-B0AA20FCB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042635"/>
              </p:ext>
            </p:extLst>
          </p:nvPr>
        </p:nvGraphicFramePr>
        <p:xfrm>
          <a:off x="968829" y="2045884"/>
          <a:ext cx="6286080" cy="1097280"/>
        </p:xfrm>
        <a:graphic>
          <a:graphicData uri="http://schemas.openxmlformats.org/drawingml/2006/table">
            <a:tbl>
              <a:tblPr/>
              <a:tblGrid>
                <a:gridCol w="2095360">
                  <a:extLst>
                    <a:ext uri="{9D8B030D-6E8A-4147-A177-3AD203B41FA5}">
                      <a16:colId xmlns:a16="http://schemas.microsoft.com/office/drawing/2014/main" val="1341765693"/>
                    </a:ext>
                  </a:extLst>
                </a:gridCol>
                <a:gridCol w="2095360">
                  <a:extLst>
                    <a:ext uri="{9D8B030D-6E8A-4147-A177-3AD203B41FA5}">
                      <a16:colId xmlns:a16="http://schemas.microsoft.com/office/drawing/2014/main" val="1617075878"/>
                    </a:ext>
                  </a:extLst>
                </a:gridCol>
                <a:gridCol w="2095360">
                  <a:extLst>
                    <a:ext uri="{9D8B030D-6E8A-4147-A177-3AD203B41FA5}">
                      <a16:colId xmlns:a16="http://schemas.microsoft.com/office/drawing/2014/main" val="2990547172"/>
                    </a:ext>
                  </a:extLst>
                </a:gridCol>
              </a:tblGrid>
              <a:tr h="222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 (sq ft)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Bedrooms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 (₹)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315393"/>
                  </a:ext>
                </a:extLst>
              </a:tr>
              <a:tr h="222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00894"/>
                  </a:ext>
                </a:extLst>
              </a:tr>
              <a:tr h="222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65L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86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66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67E6-4E30-B5DF-77E2-D9BA070C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FC3D8-5FFE-F388-2FCE-062950F66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Label / Target (Dependent Variable) - </a:t>
            </a:r>
          </a:p>
          <a:p>
            <a:r>
              <a:rPr lang="en-US" dirty="0"/>
              <a:t>The </a:t>
            </a:r>
            <a:r>
              <a:rPr lang="en-US" b="1" dirty="0"/>
              <a:t>output we want to predict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House price</a:t>
            </a:r>
          </a:p>
          <a:p>
            <a:r>
              <a:rPr lang="en-US" dirty="0"/>
              <a:t>Pass / Fail</a:t>
            </a:r>
          </a:p>
          <a:p>
            <a:r>
              <a:rPr lang="en-US" dirty="0"/>
              <a:t>Spam / Not Spam</a:t>
            </a:r>
          </a:p>
          <a:p>
            <a:r>
              <a:rPr lang="en-US" dirty="0"/>
              <a:t>In the table:</a:t>
            </a:r>
          </a:p>
          <a:p>
            <a:r>
              <a:rPr lang="en-US" b="1" dirty="0"/>
              <a:t>Price</a:t>
            </a:r>
            <a:r>
              <a:rPr lang="en-US" dirty="0"/>
              <a:t> = Label</a:t>
            </a:r>
          </a:p>
          <a:p>
            <a:endParaRPr lang="en-US" dirty="0"/>
          </a:p>
          <a:p>
            <a:r>
              <a:rPr lang="en-US" b="1" dirty="0"/>
              <a:t>Training Data - </a:t>
            </a:r>
          </a:p>
          <a:p>
            <a:r>
              <a:rPr lang="en-US" dirty="0"/>
              <a:t>The data used to </a:t>
            </a:r>
            <a:r>
              <a:rPr lang="en-US" b="1" dirty="0"/>
              <a:t>teach the model</a:t>
            </a:r>
            <a:r>
              <a:rPr lang="en-US" dirty="0"/>
              <a:t>.</a:t>
            </a:r>
          </a:p>
          <a:p>
            <a:r>
              <a:rPr lang="en-US" dirty="0"/>
              <a:t>The model </a:t>
            </a:r>
            <a:r>
              <a:rPr lang="en-US" b="1" dirty="0"/>
              <a:t>learns patterns</a:t>
            </a:r>
            <a:r>
              <a:rPr lang="en-US" dirty="0"/>
              <a:t> from training data.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80% of total data is usually used for training.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02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4531-4105-3879-A686-5EA909213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3AD3-B0EA-094C-603D-DC053915A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Testing Data - </a:t>
            </a:r>
          </a:p>
          <a:p>
            <a:r>
              <a:rPr lang="en-US" dirty="0"/>
              <a:t>The data used to </a:t>
            </a:r>
            <a:r>
              <a:rPr lang="en-US" b="1" dirty="0"/>
              <a:t>check how well the model learned</a:t>
            </a:r>
            <a:r>
              <a:rPr lang="en-US" dirty="0"/>
              <a:t>.</a:t>
            </a:r>
          </a:p>
          <a:p>
            <a:r>
              <a:rPr lang="en-US" dirty="0"/>
              <a:t>Model never sees this data during training.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Remaining 20% data is used for testing.</a:t>
            </a:r>
          </a:p>
          <a:p>
            <a:endParaRPr lang="en-US" dirty="0"/>
          </a:p>
          <a:p>
            <a:r>
              <a:rPr lang="en-IN" b="1" dirty="0"/>
              <a:t>Algorithm  - </a:t>
            </a:r>
          </a:p>
          <a:p>
            <a:r>
              <a:rPr lang="en-US" dirty="0"/>
              <a:t>An </a:t>
            </a:r>
            <a:r>
              <a:rPr lang="en-US" b="1" dirty="0"/>
              <a:t>algorithm</a:t>
            </a:r>
            <a:r>
              <a:rPr lang="en-US" dirty="0"/>
              <a:t> is the </a:t>
            </a:r>
            <a:r>
              <a:rPr lang="en-US" b="1" dirty="0"/>
              <a:t>learning procedure / method</a:t>
            </a:r>
            <a:r>
              <a:rPr lang="en-US" dirty="0"/>
              <a:t>. In simple words - Algorithm tells the machine </a:t>
            </a:r>
            <a:r>
              <a:rPr lang="en-US" b="1" dirty="0"/>
              <a:t>HOW to learn</a:t>
            </a:r>
            <a:r>
              <a:rPr lang="en-US" dirty="0"/>
              <a:t> from data.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Linear Regression algorithm</a:t>
            </a:r>
          </a:p>
          <a:p>
            <a:r>
              <a:rPr lang="en-IN" dirty="0"/>
              <a:t>K-Means algorithm</a:t>
            </a:r>
          </a:p>
          <a:p>
            <a:r>
              <a:rPr lang="en-IN" dirty="0"/>
              <a:t>Backpropagation (in neural networks)</a:t>
            </a:r>
          </a:p>
          <a:p>
            <a:r>
              <a:rPr lang="en-IN" dirty="0"/>
              <a:t>Algorithm tells </a:t>
            </a:r>
            <a:r>
              <a:rPr lang="en-IN" b="1" dirty="0"/>
              <a:t>how learning happens</a:t>
            </a:r>
            <a:r>
              <a:rPr lang="en-IN" dirty="0"/>
              <a:t>.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37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D452-4DE0-FFEE-5A2D-C861D2EA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69D0-0BDE-4B3C-9DA6-5C14B3C2B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Model – </a:t>
            </a:r>
          </a:p>
          <a:p>
            <a:r>
              <a:rPr lang="en-US" dirty="0"/>
              <a:t>A </a:t>
            </a:r>
            <a:r>
              <a:rPr lang="en-US" b="1" dirty="0"/>
              <a:t>model</a:t>
            </a:r>
            <a:r>
              <a:rPr lang="en-US" dirty="0"/>
              <a:t> is the </a:t>
            </a:r>
            <a:r>
              <a:rPr lang="en-US" b="1" dirty="0"/>
              <a:t>result after learning</a:t>
            </a:r>
            <a:r>
              <a:rPr lang="en-US" dirty="0"/>
              <a:t>.</a:t>
            </a:r>
          </a:p>
          <a:p>
            <a:r>
              <a:rPr lang="en-US" b="1" dirty="0"/>
              <a:t>In simple words - </a:t>
            </a:r>
            <a:r>
              <a:rPr lang="en-US" dirty="0"/>
              <a:t>Model is the </a:t>
            </a:r>
            <a:r>
              <a:rPr lang="en-US" b="1" dirty="0"/>
              <a:t>trained brain</a:t>
            </a:r>
            <a:r>
              <a:rPr lang="en-US" dirty="0"/>
              <a:t> created after applying the algorithm on data.</a:t>
            </a:r>
          </a:p>
          <a:p>
            <a:r>
              <a:rPr lang="en-US" dirty="0"/>
              <a:t>Algorithm + Training Data = Trained Model</a:t>
            </a:r>
          </a:p>
          <a:p>
            <a:r>
              <a:rPr lang="en-US" b="1" dirty="0"/>
              <a:t>Examples:</a:t>
            </a:r>
          </a:p>
          <a:p>
            <a:r>
              <a:rPr lang="en-US" dirty="0"/>
              <a:t>Trained Linear Regression equation</a:t>
            </a:r>
          </a:p>
          <a:p>
            <a:r>
              <a:rPr lang="en-US" dirty="0"/>
              <a:t>Trained Decision Tree</a:t>
            </a:r>
          </a:p>
          <a:p>
            <a:r>
              <a:rPr lang="en-US" b="1" dirty="0"/>
              <a:t>Algorithm (For Linear regression):</a:t>
            </a:r>
          </a:p>
          <a:p>
            <a:r>
              <a:rPr lang="en-US" dirty="0"/>
              <a:t>Formula to learn best line:</a:t>
            </a:r>
          </a:p>
          <a:p>
            <a:r>
              <a:rPr lang="en-US" dirty="0"/>
              <a:t>y = mx + c</a:t>
            </a:r>
          </a:p>
          <a:p>
            <a:r>
              <a:rPr lang="en-US" b="1" dirty="0"/>
              <a:t>Model:</a:t>
            </a:r>
          </a:p>
          <a:p>
            <a:r>
              <a:rPr lang="en-US" dirty="0"/>
              <a:t>After training:</a:t>
            </a:r>
          </a:p>
          <a:p>
            <a:r>
              <a:rPr lang="en-US" dirty="0"/>
              <a:t>y = 2.5x + 10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2866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81C8-C592-139D-95F3-DBE3D446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89CC-A4E4-3B2E-F175-35E4E1387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/>
          <a:lstStyle/>
          <a:p>
            <a:r>
              <a:rPr lang="en-US" b="1" dirty="0"/>
              <a:t>Training - </a:t>
            </a:r>
          </a:p>
          <a:p>
            <a:r>
              <a:rPr lang="en-US" b="1" dirty="0"/>
              <a:t>Training</a:t>
            </a:r>
            <a:r>
              <a:rPr lang="en-US" dirty="0"/>
              <a:t> means:</a:t>
            </a:r>
          </a:p>
          <a:p>
            <a:r>
              <a:rPr lang="en-US" dirty="0"/>
              <a:t>Feeding data to the algorithm so the model can learn patterns.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Learning how area affects house price</a:t>
            </a:r>
          </a:p>
          <a:p>
            <a:r>
              <a:rPr lang="en-US" dirty="0"/>
              <a:t>Learning which words indicate spam email</a:t>
            </a:r>
          </a:p>
          <a:p>
            <a:r>
              <a:rPr lang="en-US" b="1" dirty="0"/>
              <a:t>Prediction - </a:t>
            </a:r>
          </a:p>
          <a:p>
            <a:r>
              <a:rPr lang="en-US" dirty="0"/>
              <a:t>Using the trained model to </a:t>
            </a:r>
            <a:r>
              <a:rPr lang="en-US" b="1" dirty="0"/>
              <a:t>predict output for new data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New house → ₹72 Lakhs</a:t>
            </a:r>
          </a:p>
          <a:p>
            <a:r>
              <a:rPr lang="en-US" dirty="0"/>
              <a:t>New email → Spam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92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B603B-9DC5-C152-87ED-9E5AC4EF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3D6B-C824-44C0-CAD3-C73A91C6A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/>
          <a:lstStyle/>
          <a:p>
            <a:r>
              <a:rPr lang="en-US" b="1" dirty="0"/>
              <a:t>Accuracy - </a:t>
            </a:r>
          </a:p>
          <a:p>
            <a:r>
              <a:rPr lang="en-US" b="1" dirty="0"/>
              <a:t>Accuracy</a:t>
            </a:r>
            <a:r>
              <a:rPr lang="en-US" dirty="0"/>
              <a:t> tells </a:t>
            </a:r>
            <a:r>
              <a:rPr lang="en-US" b="1" dirty="0"/>
              <a:t>how correct the model is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If 90 out of 100 predictions are correct</a:t>
            </a:r>
            <a:br>
              <a:rPr lang="en-US" dirty="0"/>
            </a:br>
            <a:r>
              <a:rPr lang="en-US" dirty="0"/>
              <a:t>Accuracy = </a:t>
            </a:r>
            <a:r>
              <a:rPr lang="en-US" b="1" dirty="0"/>
              <a:t>90%</a:t>
            </a:r>
          </a:p>
          <a:p>
            <a:r>
              <a:rPr lang="en-US" b="1" dirty="0"/>
              <a:t>Overfitting - </a:t>
            </a:r>
          </a:p>
          <a:p>
            <a:r>
              <a:rPr lang="en-US" dirty="0"/>
              <a:t>Model learns </a:t>
            </a:r>
            <a:r>
              <a:rPr lang="en-US" b="1" dirty="0"/>
              <a:t>too well</a:t>
            </a:r>
            <a:r>
              <a:rPr lang="en-US" dirty="0"/>
              <a:t> on training data but performs </a:t>
            </a:r>
            <a:r>
              <a:rPr lang="en-US" b="1" dirty="0"/>
              <a:t>poorly on new data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Student memorizes answers instead of understanding.</a:t>
            </a:r>
          </a:p>
          <a:p>
            <a:r>
              <a:rPr lang="en-US" dirty="0"/>
              <a:t>Bad for real-world use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151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CD35-9A99-AA5C-63C1-83965DEF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F26B-2F40-A2AB-586E-3BF1F12A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/>
          <a:lstStyle/>
          <a:p>
            <a:r>
              <a:rPr lang="en-US" b="1" dirty="0"/>
              <a:t>Underfitting - </a:t>
            </a:r>
          </a:p>
          <a:p>
            <a:r>
              <a:rPr lang="en-US" dirty="0"/>
              <a:t>Model is </a:t>
            </a:r>
            <a:r>
              <a:rPr lang="en-US" b="1" dirty="0"/>
              <a:t>too simple</a:t>
            </a:r>
            <a:r>
              <a:rPr lang="en-US" dirty="0"/>
              <a:t> and fails to learn patterns.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Student doesn’t study enough.</a:t>
            </a:r>
          </a:p>
          <a:p>
            <a:r>
              <a:rPr lang="en-US" dirty="0"/>
              <a:t>Poor performance </a:t>
            </a:r>
          </a:p>
          <a:p>
            <a:endParaRPr lang="en-US" dirty="0"/>
          </a:p>
          <a:p>
            <a:r>
              <a:rPr lang="en-IN" b="1" dirty="0"/>
              <a:t>Bias &amp; Variance – </a:t>
            </a:r>
          </a:p>
          <a:p>
            <a:r>
              <a:rPr lang="en-US" dirty="0"/>
              <a:t>When we train a Machine Learning model, </a:t>
            </a:r>
            <a:r>
              <a:rPr lang="en-US" b="1" dirty="0"/>
              <a:t>errors happen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errors mainly come from </a:t>
            </a:r>
            <a:r>
              <a:rPr lang="en-US" b="1" dirty="0"/>
              <a:t>two reasons</a:t>
            </a:r>
            <a:r>
              <a:rPr lang="en-US" dirty="0"/>
              <a:t>:</a:t>
            </a:r>
          </a:p>
          <a:p>
            <a:r>
              <a:rPr lang="en-US" dirty="0"/>
              <a:t>Model is </a:t>
            </a:r>
            <a:r>
              <a:rPr lang="en-US" b="1" dirty="0"/>
              <a:t>too simple</a:t>
            </a:r>
            <a:r>
              <a:rPr lang="en-US" dirty="0"/>
              <a:t> → </a:t>
            </a:r>
            <a:r>
              <a:rPr lang="en-US" b="1" dirty="0"/>
              <a:t>Bias</a:t>
            </a:r>
            <a:endParaRPr lang="en-US" dirty="0"/>
          </a:p>
          <a:p>
            <a:r>
              <a:rPr lang="en-US" dirty="0"/>
              <a:t>Model is </a:t>
            </a:r>
            <a:r>
              <a:rPr lang="en-US" b="1" dirty="0"/>
              <a:t>too complex</a:t>
            </a:r>
            <a:r>
              <a:rPr lang="en-US" dirty="0"/>
              <a:t> → </a:t>
            </a:r>
            <a:r>
              <a:rPr lang="en-US" b="1" dirty="0"/>
              <a:t>Variance</a:t>
            </a:r>
            <a:endParaRPr lang="en-US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045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3443-A149-BD19-B931-012218CF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E0C7-2049-9CB3-1316-29916863B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Bias?</a:t>
            </a:r>
          </a:p>
          <a:p>
            <a:r>
              <a:rPr lang="en-US" dirty="0"/>
              <a:t> </a:t>
            </a:r>
            <a:r>
              <a:rPr lang="en-US" b="1" dirty="0"/>
              <a:t>Bias = Error due to wrong assumptions</a:t>
            </a:r>
            <a:endParaRPr lang="en-US" dirty="0"/>
          </a:p>
          <a:p>
            <a:r>
              <a:rPr lang="en-US" b="1" dirty="0"/>
              <a:t>In simple words:</a:t>
            </a:r>
          </a:p>
          <a:p>
            <a:r>
              <a:rPr lang="en-US" dirty="0"/>
              <a:t>Model is </a:t>
            </a:r>
            <a:r>
              <a:rPr lang="en-US" b="1" dirty="0"/>
              <a:t>too simple</a:t>
            </a:r>
            <a:r>
              <a:rPr lang="en-US" dirty="0"/>
              <a:t>, so it </a:t>
            </a:r>
            <a:r>
              <a:rPr lang="en-US" b="1" dirty="0"/>
              <a:t>cannot learn patterns properly</a:t>
            </a:r>
            <a:r>
              <a:rPr lang="en-US" dirty="0"/>
              <a:t>.</a:t>
            </a:r>
          </a:p>
          <a:p>
            <a:r>
              <a:rPr lang="en-US" b="1" dirty="0"/>
              <a:t>Student Example:</a:t>
            </a:r>
          </a:p>
          <a:p>
            <a:r>
              <a:rPr lang="en-US" dirty="0"/>
              <a:t>Student studies </a:t>
            </a:r>
            <a:r>
              <a:rPr lang="en-US" b="1" dirty="0"/>
              <a:t>only 1 page</a:t>
            </a:r>
            <a:r>
              <a:rPr lang="en-US" dirty="0"/>
              <a:t> for whole syllabus</a:t>
            </a:r>
          </a:p>
          <a:p>
            <a:r>
              <a:rPr lang="en-US" dirty="0"/>
              <a:t>Result → Poor marks</a:t>
            </a:r>
          </a:p>
          <a:p>
            <a:r>
              <a:rPr lang="en-US" b="1" dirty="0"/>
              <a:t>ML Example:</a:t>
            </a:r>
          </a:p>
          <a:p>
            <a:r>
              <a:rPr lang="en-US" dirty="0"/>
              <a:t>Using a straight line to fit curved data</a:t>
            </a:r>
          </a:p>
          <a:p>
            <a:r>
              <a:rPr lang="en-US" b="1" dirty="0"/>
              <a:t>Result:</a:t>
            </a:r>
          </a:p>
          <a:p>
            <a:r>
              <a:rPr lang="en-US" dirty="0"/>
              <a:t>Poor training accuracy </a:t>
            </a:r>
          </a:p>
          <a:p>
            <a:r>
              <a:rPr lang="en-US" dirty="0"/>
              <a:t>Poor testing accuracy </a:t>
            </a:r>
          </a:p>
          <a:p>
            <a:r>
              <a:rPr lang="en-US" dirty="0"/>
              <a:t>This is called </a:t>
            </a:r>
            <a:r>
              <a:rPr lang="en-US" b="1" dirty="0"/>
              <a:t>Underfitting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681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B0AF-6005-3C5E-9E6B-BE07EBEF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1EDEB-EB77-82DE-12E5-DE15B2B32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What is Variance?</a:t>
            </a:r>
          </a:p>
          <a:p>
            <a:r>
              <a:rPr lang="en-US" b="1" dirty="0"/>
              <a:t>Variance = Error due to over-learning</a:t>
            </a:r>
            <a:endParaRPr lang="en-US" dirty="0"/>
          </a:p>
          <a:p>
            <a:r>
              <a:rPr lang="en-US" b="1" dirty="0"/>
              <a:t>In simple words:</a:t>
            </a:r>
          </a:p>
          <a:p>
            <a:r>
              <a:rPr lang="en-US" dirty="0"/>
              <a:t>Model learns </a:t>
            </a:r>
            <a:r>
              <a:rPr lang="en-US" b="1" dirty="0"/>
              <a:t>too much</a:t>
            </a:r>
            <a:r>
              <a:rPr lang="en-US" dirty="0"/>
              <a:t>, even noise, so it </a:t>
            </a:r>
            <a:r>
              <a:rPr lang="en-US" b="1" dirty="0"/>
              <a:t>fails on new data</a:t>
            </a:r>
            <a:r>
              <a:rPr lang="en-US" dirty="0"/>
              <a:t>.</a:t>
            </a:r>
          </a:p>
          <a:p>
            <a:r>
              <a:rPr lang="en-US" b="1" dirty="0"/>
              <a:t>Student Example:</a:t>
            </a:r>
          </a:p>
          <a:p>
            <a:r>
              <a:rPr lang="en-US" dirty="0"/>
              <a:t>Student </a:t>
            </a:r>
            <a:r>
              <a:rPr lang="en-US" b="1" dirty="0"/>
              <a:t>memorizes answers word-to-word</a:t>
            </a:r>
            <a:endParaRPr lang="en-US" dirty="0"/>
          </a:p>
          <a:p>
            <a:r>
              <a:rPr lang="en-US" dirty="0"/>
              <a:t>New question → Confused</a:t>
            </a:r>
          </a:p>
          <a:p>
            <a:r>
              <a:rPr lang="en-US" b="1" dirty="0"/>
              <a:t>ML Example:</a:t>
            </a:r>
          </a:p>
          <a:p>
            <a:r>
              <a:rPr lang="en-US" dirty="0"/>
              <a:t>Very complex model fits every data point exactly</a:t>
            </a:r>
          </a:p>
          <a:p>
            <a:r>
              <a:rPr lang="en-US" b="1" dirty="0"/>
              <a:t>Result:</a:t>
            </a:r>
          </a:p>
          <a:p>
            <a:r>
              <a:rPr lang="en-US" dirty="0"/>
              <a:t>Very high training accuracy </a:t>
            </a:r>
          </a:p>
          <a:p>
            <a:r>
              <a:rPr lang="en-US" dirty="0"/>
              <a:t>Very low testing accuracy </a:t>
            </a:r>
          </a:p>
          <a:p>
            <a:r>
              <a:rPr lang="en-US" dirty="0"/>
              <a:t>This is called </a:t>
            </a:r>
            <a:r>
              <a:rPr lang="en-US" b="1" dirty="0"/>
              <a:t>Overfitting</a:t>
            </a:r>
          </a:p>
          <a:p>
            <a:endParaRPr lang="en-US" b="1" dirty="0"/>
          </a:p>
          <a:p>
            <a:r>
              <a:rPr lang="en-US" b="1" dirty="0"/>
              <a:t>Bias–Variance Tradeoff </a:t>
            </a:r>
          </a:p>
          <a:p>
            <a:r>
              <a:rPr lang="en-US" dirty="0"/>
              <a:t>If bias decreases, variance increases</a:t>
            </a:r>
            <a:br>
              <a:rPr lang="en-US" dirty="0"/>
            </a:br>
            <a:r>
              <a:rPr lang="en-US" dirty="0"/>
              <a:t>If variance decreases, bias increases</a:t>
            </a:r>
          </a:p>
          <a:p>
            <a:r>
              <a:rPr lang="en-US" dirty="0"/>
              <a:t> Goal of ML = </a:t>
            </a:r>
            <a:r>
              <a:rPr lang="en-US" b="1" dirty="0"/>
              <a:t>Balance both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906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3BD2D-9F00-6B9A-3A3F-2B1021B7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Working  Of Machine Learning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3D398B-A1C0-1F4B-A703-32B646310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59470"/>
            <a:ext cx="10905066" cy="42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71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14D36-D61A-362B-B8FB-8D8BFFA9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35A06-0A9C-14A8-D63E-2A8D6D7E1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Problem Statement - </a:t>
            </a:r>
          </a:p>
          <a:p>
            <a:r>
              <a:rPr lang="en-US" dirty="0"/>
              <a:t>This is the </a:t>
            </a:r>
            <a:r>
              <a:rPr lang="en-US" b="1" dirty="0"/>
              <a:t>first step</a:t>
            </a:r>
            <a:r>
              <a:rPr lang="en-US" dirty="0"/>
              <a:t> of any ML project.</a:t>
            </a:r>
            <a:br>
              <a:rPr lang="en-US" dirty="0"/>
            </a:br>
            <a:r>
              <a:rPr lang="en-US" dirty="0"/>
              <a:t>Here we clearly define </a:t>
            </a:r>
            <a:r>
              <a:rPr lang="en-US" b="1" dirty="0"/>
              <a:t>what problem we want to solve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Predict house price</a:t>
            </a:r>
          </a:p>
          <a:p>
            <a:r>
              <a:rPr lang="en-US" dirty="0"/>
              <a:t>Classify email as spam or not spam</a:t>
            </a:r>
          </a:p>
          <a:p>
            <a:r>
              <a:rPr lang="en-US" dirty="0"/>
              <a:t>Predict student performance</a:t>
            </a:r>
          </a:p>
          <a:p>
            <a:r>
              <a:rPr lang="en-US" dirty="0"/>
              <a:t>Without a clear problem, ML cannot start.</a:t>
            </a:r>
          </a:p>
          <a:p>
            <a:endParaRPr lang="en-US" dirty="0"/>
          </a:p>
          <a:p>
            <a:r>
              <a:rPr lang="en-US" b="1" dirty="0"/>
              <a:t>Data Collection - </a:t>
            </a:r>
          </a:p>
          <a:p>
            <a:r>
              <a:rPr lang="en-US" dirty="0"/>
              <a:t>In this step, we </a:t>
            </a:r>
            <a:r>
              <a:rPr lang="en-US" b="1" dirty="0"/>
              <a:t>collect data related to the problem</a:t>
            </a:r>
            <a:r>
              <a:rPr lang="en-US" dirty="0"/>
              <a:t>.</a:t>
            </a:r>
          </a:p>
          <a:p>
            <a:r>
              <a:rPr lang="en-US" b="1" dirty="0"/>
              <a:t>Sources of data:</a:t>
            </a:r>
            <a:endParaRPr lang="en-US" dirty="0"/>
          </a:p>
          <a:p>
            <a:r>
              <a:rPr lang="en-US" dirty="0"/>
              <a:t>Databases</a:t>
            </a:r>
          </a:p>
          <a:p>
            <a:r>
              <a:rPr lang="en-US" dirty="0"/>
              <a:t>CSV files</a:t>
            </a:r>
          </a:p>
          <a:p>
            <a:r>
              <a:rPr lang="en-US" dirty="0"/>
              <a:t>Sensors</a:t>
            </a:r>
          </a:p>
          <a:p>
            <a:r>
              <a:rPr lang="en-US" dirty="0"/>
              <a:t>Websites</a:t>
            </a:r>
          </a:p>
          <a:p>
            <a:r>
              <a:rPr lang="en-US" dirty="0"/>
              <a:t>Surveys</a:t>
            </a:r>
          </a:p>
          <a:p>
            <a:r>
              <a:rPr lang="en-US" dirty="0"/>
              <a:t>Quality and quantity of data directly affect model performance.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40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00B8-C187-3F5C-C4BA-7A9A3BA1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4D8C-2EE9-1942-EEA5-B8EB76C03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Data Preprocessing</a:t>
            </a:r>
          </a:p>
          <a:p>
            <a:r>
              <a:rPr lang="en-US" dirty="0"/>
              <a:t>Raw data is usually </a:t>
            </a:r>
            <a:r>
              <a:rPr lang="en-US" b="1" dirty="0"/>
              <a:t>dirty and incomplete</a:t>
            </a:r>
            <a:r>
              <a:rPr lang="en-US" dirty="0"/>
              <a:t>, so it must be cleaned.</a:t>
            </a:r>
          </a:p>
          <a:p>
            <a:r>
              <a:rPr lang="en-US" b="1" dirty="0"/>
              <a:t>Includes:</a:t>
            </a:r>
            <a:endParaRPr lang="en-US" dirty="0"/>
          </a:p>
          <a:p>
            <a:r>
              <a:rPr lang="en-US" dirty="0"/>
              <a:t>Handling missing values</a:t>
            </a:r>
          </a:p>
          <a:p>
            <a:r>
              <a:rPr lang="en-US" dirty="0"/>
              <a:t>Removing noise and duplicates</a:t>
            </a:r>
          </a:p>
          <a:p>
            <a:r>
              <a:rPr lang="en-US" dirty="0"/>
              <a:t>Converting categorical data to numerical</a:t>
            </a:r>
          </a:p>
          <a:p>
            <a:r>
              <a:rPr lang="en-US" dirty="0"/>
              <a:t>Feature scaling / normalization</a:t>
            </a:r>
          </a:p>
          <a:p>
            <a:r>
              <a:rPr lang="en-US" i="1" dirty="0"/>
              <a:t>“Garbage in → Garbage out”</a:t>
            </a:r>
            <a:br>
              <a:rPr lang="en-US" dirty="0"/>
            </a:br>
            <a:r>
              <a:rPr lang="en-US" dirty="0"/>
              <a:t>So preprocessing is very important.</a:t>
            </a:r>
          </a:p>
          <a:p>
            <a:endParaRPr lang="en-US" dirty="0"/>
          </a:p>
          <a:p>
            <a:r>
              <a:rPr lang="en-US" b="1" dirty="0"/>
              <a:t>Select Algorithm</a:t>
            </a:r>
          </a:p>
          <a:p>
            <a:r>
              <a:rPr lang="en-US" dirty="0"/>
              <a:t>Here we choose </a:t>
            </a:r>
            <a:r>
              <a:rPr lang="en-US" b="1" dirty="0"/>
              <a:t>how the machine will learn</a:t>
            </a:r>
            <a:r>
              <a:rPr lang="en-US" dirty="0"/>
              <a:t>.</a:t>
            </a:r>
          </a:p>
          <a:p>
            <a:r>
              <a:rPr lang="en-US" b="1" dirty="0"/>
              <a:t>Depends on:</a:t>
            </a:r>
            <a:endParaRPr lang="en-US" dirty="0"/>
          </a:p>
          <a:p>
            <a:r>
              <a:rPr lang="en-US" dirty="0"/>
              <a:t>Type of problem (classification / regression / clustering)</a:t>
            </a:r>
          </a:p>
          <a:p>
            <a:r>
              <a:rPr lang="en-US" dirty="0"/>
              <a:t>Size of data</a:t>
            </a:r>
          </a:p>
          <a:p>
            <a:r>
              <a:rPr lang="en-US" dirty="0"/>
              <a:t>Complexity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Linear Regression</a:t>
            </a:r>
          </a:p>
          <a:p>
            <a:r>
              <a:rPr lang="en-US" dirty="0"/>
              <a:t>Decision Tree</a:t>
            </a:r>
          </a:p>
          <a:p>
            <a:r>
              <a:rPr lang="en-US" dirty="0"/>
              <a:t>KNN</a:t>
            </a:r>
          </a:p>
          <a:p>
            <a:r>
              <a:rPr lang="en-US" dirty="0"/>
              <a:t>Neural Network</a:t>
            </a:r>
          </a:p>
          <a:p>
            <a:r>
              <a:rPr lang="en-US" dirty="0"/>
              <a:t> Algorithm decides the </a:t>
            </a:r>
            <a:r>
              <a:rPr lang="en-US" b="1" dirty="0"/>
              <a:t>learning strategy</a:t>
            </a:r>
            <a:r>
              <a:rPr lang="en-US" dirty="0"/>
              <a:t>, not the final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383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587C-FCA0-1840-AAF3-33896906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E58DD-3029-4C33-372F-F2984A09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Training</a:t>
            </a:r>
          </a:p>
          <a:p>
            <a:r>
              <a:rPr lang="en-US" dirty="0"/>
              <a:t>In this step, the </a:t>
            </a:r>
            <a:r>
              <a:rPr lang="en-US" b="1" dirty="0"/>
              <a:t>selected algorithm is applied to training data</a:t>
            </a:r>
            <a:r>
              <a:rPr lang="en-US" dirty="0"/>
              <a:t>.</a:t>
            </a:r>
          </a:p>
          <a:p>
            <a:r>
              <a:rPr lang="en-US" dirty="0"/>
              <a:t>Model learns patterns</a:t>
            </a:r>
          </a:p>
          <a:p>
            <a:r>
              <a:rPr lang="en-US" dirty="0"/>
              <a:t>Model parameters are adjusted</a:t>
            </a:r>
          </a:p>
          <a:p>
            <a:r>
              <a:rPr lang="en-US" dirty="0"/>
              <a:t>Learning happens here</a:t>
            </a:r>
          </a:p>
          <a:p>
            <a:r>
              <a:rPr lang="en-US" dirty="0"/>
              <a:t>Output of training = </a:t>
            </a:r>
            <a:r>
              <a:rPr lang="en-US" b="1" dirty="0"/>
              <a:t>Trained Model</a:t>
            </a:r>
          </a:p>
          <a:p>
            <a:endParaRPr lang="en-US" b="1" dirty="0"/>
          </a:p>
          <a:p>
            <a:r>
              <a:rPr lang="en-US" b="1" dirty="0"/>
              <a:t>Evaluation</a:t>
            </a:r>
          </a:p>
          <a:p>
            <a:r>
              <a:rPr lang="en-US" dirty="0"/>
              <a:t>The trained model is </a:t>
            </a:r>
            <a:r>
              <a:rPr lang="en-US" b="1" dirty="0"/>
              <a:t>tested using unseen (testing) data</a:t>
            </a:r>
            <a:r>
              <a:rPr lang="en-US" dirty="0"/>
              <a:t>.</a:t>
            </a:r>
          </a:p>
          <a:p>
            <a:r>
              <a:rPr lang="en-US" b="1" dirty="0"/>
              <a:t>Evaluation metrics:</a:t>
            </a:r>
            <a:endParaRPr lang="en-US" dirty="0"/>
          </a:p>
          <a:p>
            <a:r>
              <a:rPr lang="en-US" dirty="0"/>
              <a:t>Accuracy</a:t>
            </a:r>
          </a:p>
          <a:p>
            <a:r>
              <a:rPr lang="en-US" dirty="0"/>
              <a:t>Precision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Error</a:t>
            </a:r>
          </a:p>
          <a:p>
            <a:r>
              <a:rPr lang="en-US" dirty="0"/>
              <a:t>This step checks </a:t>
            </a:r>
            <a:r>
              <a:rPr lang="en-US" b="1" dirty="0"/>
              <a:t>how good the model is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804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9CAB-1091-654D-BF6C-4AF4ED05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F267A-5286-032D-3AC3-3EFE6052D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If Accuracy Is Less (Feedback Loop)</a:t>
            </a:r>
          </a:p>
          <a:p>
            <a:r>
              <a:rPr lang="en-US" dirty="0"/>
              <a:t>If performance is </a:t>
            </a:r>
            <a:r>
              <a:rPr lang="en-US" b="1" dirty="0"/>
              <a:t>not satisfactory</a:t>
            </a:r>
            <a:r>
              <a:rPr lang="en-US" dirty="0"/>
              <a:t>:</a:t>
            </a:r>
          </a:p>
          <a:p>
            <a:r>
              <a:rPr lang="en-US" dirty="0"/>
              <a:t>Change algorithm</a:t>
            </a:r>
          </a:p>
          <a:p>
            <a:r>
              <a:rPr lang="en-US" dirty="0"/>
              <a:t>Tune parameters</a:t>
            </a:r>
          </a:p>
          <a:p>
            <a:r>
              <a:rPr lang="en-US" dirty="0"/>
              <a:t>Improve data preprocessing</a:t>
            </a:r>
          </a:p>
          <a:p>
            <a:r>
              <a:rPr lang="en-US" dirty="0"/>
              <a:t>Add more data</a:t>
            </a:r>
          </a:p>
          <a:p>
            <a:r>
              <a:rPr lang="en-US" dirty="0"/>
              <a:t>Then retrain the model again.</a:t>
            </a:r>
          </a:p>
          <a:p>
            <a:r>
              <a:rPr lang="en-US" dirty="0"/>
              <a:t>This loop continues until acceptable accuracy is achieved.</a:t>
            </a:r>
          </a:p>
          <a:p>
            <a:endParaRPr lang="en-US" dirty="0"/>
          </a:p>
          <a:p>
            <a:r>
              <a:rPr lang="en-US" b="1" dirty="0"/>
              <a:t>Output (Prediction)</a:t>
            </a:r>
          </a:p>
          <a:p>
            <a:r>
              <a:rPr lang="en-US" dirty="0"/>
              <a:t>Once the model performs well, it is used for </a:t>
            </a:r>
            <a:r>
              <a:rPr lang="en-US" b="1" dirty="0"/>
              <a:t>final predictions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Predicted house price</a:t>
            </a:r>
          </a:p>
          <a:p>
            <a:r>
              <a:rPr lang="en-US" dirty="0"/>
              <a:t>Spam / Not spam</a:t>
            </a:r>
          </a:p>
          <a:p>
            <a:r>
              <a:rPr lang="en-US" dirty="0"/>
              <a:t>Pass / Fail</a:t>
            </a:r>
          </a:p>
          <a:p>
            <a:r>
              <a:rPr lang="en-US" dirty="0"/>
              <a:t>This is the </a:t>
            </a:r>
            <a:r>
              <a:rPr lang="en-US" b="1" dirty="0"/>
              <a:t>final usable result</a:t>
            </a:r>
            <a:r>
              <a:rPr lang="en-US" dirty="0"/>
              <a:t> of Machine Learning.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13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609D-6696-A31E-0776-54B7B8A2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C47E-6057-A2E4-5654-F278CCA4F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Machine Learning is mainly classified into </a:t>
            </a:r>
            <a:r>
              <a:rPr lang="en-US" b="1" dirty="0"/>
              <a:t>three types</a:t>
            </a:r>
            <a:r>
              <a:rPr lang="en-US" dirty="0"/>
              <a:t> based on </a:t>
            </a:r>
            <a:r>
              <a:rPr lang="en-US" b="1" dirty="0"/>
              <a:t>availability of labeled data</a:t>
            </a:r>
            <a:r>
              <a:rPr lang="en-US" dirty="0"/>
              <a:t>:</a:t>
            </a:r>
          </a:p>
          <a:p>
            <a:r>
              <a:rPr lang="en-US" dirty="0"/>
              <a:t>Supervised Learning</a:t>
            </a:r>
          </a:p>
          <a:p>
            <a:r>
              <a:rPr lang="en-US" dirty="0"/>
              <a:t>Unsupervised Learning</a:t>
            </a:r>
          </a:p>
          <a:p>
            <a:r>
              <a:rPr lang="en-US" dirty="0"/>
              <a:t>Semi-Supervised Learning</a:t>
            </a:r>
          </a:p>
          <a:p>
            <a:endParaRPr lang="en-US" dirty="0"/>
          </a:p>
          <a:p>
            <a:r>
              <a:rPr lang="en-IN" b="1" dirty="0"/>
              <a:t>1 - Supervised Learning – </a:t>
            </a:r>
          </a:p>
          <a:p>
            <a:r>
              <a:rPr lang="en-US" b="1" dirty="0"/>
              <a:t>Supervised Learning</a:t>
            </a:r>
            <a:r>
              <a:rPr lang="en-US" dirty="0"/>
              <a:t> is a type of ML where the model is trained using </a:t>
            </a:r>
            <a:r>
              <a:rPr lang="en-US" b="1" dirty="0"/>
              <a:t>labeled data</a:t>
            </a:r>
            <a:r>
              <a:rPr lang="en-US" dirty="0"/>
              <a:t>.</a:t>
            </a:r>
          </a:p>
          <a:p>
            <a:r>
              <a:rPr lang="en-US" dirty="0"/>
              <a:t>Labeled data means </a:t>
            </a:r>
            <a:r>
              <a:rPr lang="en-US" b="1" dirty="0"/>
              <a:t>input + correct output is already known</a:t>
            </a:r>
            <a:r>
              <a:rPr lang="en-US" dirty="0"/>
              <a:t>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07711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5A2CA-A3CB-B0D4-D176-99DFE2A44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E01E8-C490-0071-3126-58BE560D3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02" y="211016"/>
            <a:ext cx="6625877" cy="5889104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r>
              <a:rPr lang="en-US" sz="1800" b="1" dirty="0"/>
              <a:t>How it Works</a:t>
            </a:r>
          </a:p>
          <a:p>
            <a:r>
              <a:rPr lang="en-US" sz="1800" dirty="0"/>
              <a:t>Data contains </a:t>
            </a:r>
            <a:r>
              <a:rPr lang="en-US" sz="1800" b="1" dirty="0"/>
              <a:t>features and labels</a:t>
            </a:r>
            <a:endParaRPr lang="en-US" sz="1800" dirty="0"/>
          </a:p>
          <a:p>
            <a:r>
              <a:rPr lang="en-US" sz="1800" dirty="0"/>
              <a:t>Model learns the relationship between them</a:t>
            </a:r>
          </a:p>
          <a:p>
            <a:r>
              <a:rPr lang="en-US" sz="1800" dirty="0"/>
              <a:t>Used to predict output for new data</a:t>
            </a:r>
          </a:p>
          <a:p>
            <a:endParaRPr lang="en-US" sz="1800" dirty="0"/>
          </a:p>
          <a:p>
            <a:r>
              <a:rPr lang="en-US" sz="1800" dirty="0"/>
              <a:t>Example – </a:t>
            </a:r>
          </a:p>
          <a:p>
            <a:endParaRPr lang="en-US" sz="1300" dirty="0"/>
          </a:p>
          <a:p>
            <a:endParaRPr lang="en-US" sz="1300" dirty="0"/>
          </a:p>
          <a:p>
            <a:endParaRPr lang="en-IN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89CE1-8132-28B8-CB75-492A98F2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524" y="366341"/>
            <a:ext cx="4810874" cy="29372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0EBDC-591A-63AC-7602-D3CECF375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24414"/>
              </p:ext>
            </p:extLst>
          </p:nvPr>
        </p:nvGraphicFramePr>
        <p:xfrm>
          <a:off x="585506" y="2894472"/>
          <a:ext cx="4202804" cy="1520212"/>
        </p:xfrm>
        <a:graphic>
          <a:graphicData uri="http://schemas.openxmlformats.org/drawingml/2006/table">
            <a:tbl>
              <a:tblPr/>
              <a:tblGrid>
                <a:gridCol w="1923781">
                  <a:extLst>
                    <a:ext uri="{9D8B030D-6E8A-4147-A177-3AD203B41FA5}">
                      <a16:colId xmlns:a16="http://schemas.microsoft.com/office/drawing/2014/main" val="2390919784"/>
                    </a:ext>
                  </a:extLst>
                </a:gridCol>
                <a:gridCol w="2279023">
                  <a:extLst>
                    <a:ext uri="{9D8B030D-6E8A-4147-A177-3AD203B41FA5}">
                      <a16:colId xmlns:a16="http://schemas.microsoft.com/office/drawing/2014/main" val="388369654"/>
                    </a:ext>
                  </a:extLst>
                </a:gridCol>
              </a:tblGrid>
              <a:tr h="380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Input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Output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623702"/>
                  </a:ext>
                </a:extLst>
              </a:tr>
              <a:tr h="380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Student marks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Pass / Fail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677854"/>
                  </a:ext>
                </a:extLst>
              </a:tr>
              <a:tr h="380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House area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Price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374710"/>
                  </a:ext>
                </a:extLst>
              </a:tr>
              <a:tr h="380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Email text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Spam / Not Spam</a:t>
                      </a:r>
                    </a:p>
                  </a:txBody>
                  <a:tcPr marL="112608" marR="112608" marT="56304" marB="563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935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99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6E46-D325-7078-43DE-E19B9DE3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20FFC-99F2-74CE-BF4B-43C82C2A4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Types of Supervised Learning</a:t>
            </a:r>
          </a:p>
          <a:p>
            <a:r>
              <a:rPr lang="en-US" b="1" dirty="0"/>
              <a:t>Classification</a:t>
            </a:r>
            <a:r>
              <a:rPr lang="en-US" dirty="0"/>
              <a:t> – Output is a category</a:t>
            </a:r>
          </a:p>
          <a:p>
            <a:pPr lvl="1"/>
            <a:r>
              <a:rPr lang="en-US" dirty="0"/>
              <a:t>Spam / Not Spam</a:t>
            </a:r>
          </a:p>
          <a:p>
            <a:pPr lvl="1"/>
            <a:r>
              <a:rPr lang="en-US" dirty="0"/>
              <a:t>Disease / No Disease</a:t>
            </a:r>
          </a:p>
          <a:p>
            <a:r>
              <a:rPr lang="en-US" b="1" dirty="0"/>
              <a:t>Regression</a:t>
            </a:r>
            <a:r>
              <a:rPr lang="en-US" dirty="0"/>
              <a:t> – Output is a numerical value</a:t>
            </a:r>
          </a:p>
          <a:p>
            <a:pPr lvl="1"/>
            <a:r>
              <a:rPr lang="en-US" dirty="0"/>
              <a:t>House price</a:t>
            </a:r>
          </a:p>
          <a:p>
            <a:pPr lvl="1"/>
            <a:r>
              <a:rPr lang="en-US" dirty="0"/>
              <a:t>Salary prediction</a:t>
            </a:r>
          </a:p>
          <a:p>
            <a:pPr lvl="1"/>
            <a:endParaRPr lang="en-US" dirty="0"/>
          </a:p>
          <a:p>
            <a:r>
              <a:rPr lang="en-US" b="1" dirty="0"/>
              <a:t>Common Algorithms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Decision Tree</a:t>
            </a:r>
          </a:p>
          <a:p>
            <a:r>
              <a:rPr lang="en-US" dirty="0"/>
              <a:t>KNN</a:t>
            </a:r>
          </a:p>
          <a:p>
            <a:r>
              <a:rPr lang="en-US" dirty="0"/>
              <a:t>SVM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522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3578-E0A0-6625-DD2C-A9FE3F38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6F63C-F5CF-F7DD-5C3E-076C52A5C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2 - </a:t>
            </a:r>
            <a:r>
              <a:rPr lang="en-IN" b="1" dirty="0"/>
              <a:t>Unsupervised Learning –</a:t>
            </a:r>
          </a:p>
          <a:p>
            <a:r>
              <a:rPr lang="en-IN" b="1" dirty="0"/>
              <a:t> 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US" b="1" dirty="0"/>
              <a:t>Unsupervised Learning</a:t>
            </a:r>
            <a:r>
              <a:rPr lang="en-US" dirty="0"/>
              <a:t> is a type of ML where the data has </a:t>
            </a:r>
            <a:r>
              <a:rPr lang="en-US" b="1" dirty="0"/>
              <a:t>no labels</a:t>
            </a:r>
            <a:r>
              <a:rPr lang="en-US" dirty="0"/>
              <a:t>.</a:t>
            </a:r>
          </a:p>
          <a:p>
            <a:r>
              <a:rPr lang="en-US" dirty="0"/>
              <a:t>Model learns patterns </a:t>
            </a:r>
            <a:r>
              <a:rPr lang="en-US" b="1" dirty="0"/>
              <a:t>by itself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How it Works</a:t>
            </a:r>
          </a:p>
          <a:p>
            <a:r>
              <a:rPr lang="en-US" dirty="0"/>
              <a:t>Only input data is given</a:t>
            </a:r>
          </a:p>
          <a:p>
            <a:r>
              <a:rPr lang="en-US" dirty="0"/>
              <a:t>Model finds hidden structure</a:t>
            </a:r>
          </a:p>
          <a:p>
            <a:r>
              <a:rPr lang="en-US" dirty="0"/>
              <a:t>No correct output is provided</a:t>
            </a:r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61626-6152-51A6-F4A8-ADB589B3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07" y="1181703"/>
            <a:ext cx="8792901" cy="173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64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08FE-C620-0819-D4B7-54EA080F0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5403-B03E-164D-89BB-3E5B4889C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/>
          </a:bodyPr>
          <a:lstStyle/>
          <a:p>
            <a:r>
              <a:rPr lang="en-IN" dirty="0"/>
              <a:t>Examples  - </a:t>
            </a:r>
          </a:p>
          <a:p>
            <a:r>
              <a:rPr lang="en-IN" dirty="0"/>
              <a:t>1 - Customer segmentation – Segmenting the customers based on like - Purchase frequency (High spending customers, Budget customers, Occasional buyers), or Age (younger, middle </a:t>
            </a:r>
            <a:r>
              <a:rPr lang="en-IN" dirty="0" err="1"/>
              <a:t>gae</a:t>
            </a:r>
            <a:r>
              <a:rPr lang="en-IN" dirty="0"/>
              <a:t> and older etc.).</a:t>
            </a:r>
          </a:p>
          <a:p>
            <a:r>
              <a:rPr lang="en-US" dirty="0"/>
              <a:t>Real-Life Use - Personalized marketing, Discounts for specific groups</a:t>
            </a:r>
          </a:p>
          <a:p>
            <a:r>
              <a:rPr lang="en-US" dirty="0"/>
              <a:t>2 - </a:t>
            </a:r>
            <a:r>
              <a:rPr lang="en-IN" dirty="0"/>
              <a:t>Grouping Similar Products - </a:t>
            </a:r>
            <a:r>
              <a:rPr lang="en-US" dirty="0"/>
              <a:t>Products are grouped based on similar features (Price, </a:t>
            </a:r>
            <a:r>
              <a:rPr lang="en-IN" dirty="0"/>
              <a:t>Category, Rating etc</a:t>
            </a:r>
            <a:r>
              <a:rPr lang="en-US" dirty="0"/>
              <a:t>).</a:t>
            </a:r>
          </a:p>
          <a:p>
            <a:r>
              <a:rPr lang="en-US" dirty="0"/>
              <a:t>Real-Life Use - Recommendation systems, Inventory management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196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3702-BC0A-7044-49E6-0E4E2234C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E306-A7C2-2956-21BC-2BD19B28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/>
          <a:lstStyle/>
          <a:p>
            <a:r>
              <a:rPr lang="en-US" b="1" dirty="0"/>
              <a:t>Main Tasks</a:t>
            </a:r>
          </a:p>
          <a:p>
            <a:r>
              <a:rPr lang="en-US" dirty="0"/>
              <a:t>Clustering – Grouping similar data</a:t>
            </a:r>
          </a:p>
          <a:p>
            <a:r>
              <a:rPr lang="en-US" dirty="0"/>
              <a:t>Association – find hidden relationships between items in a dataset.</a:t>
            </a:r>
          </a:p>
          <a:p>
            <a:r>
              <a:rPr lang="en-US" dirty="0"/>
              <a:t>It answers: Which items are frequently bought together?</a:t>
            </a:r>
          </a:p>
          <a:p>
            <a:r>
              <a:rPr lang="en-US" dirty="0"/>
              <a:t>Example: butter with bread.</a:t>
            </a:r>
          </a:p>
          <a:p>
            <a:r>
              <a:rPr lang="en-US" b="1" dirty="0"/>
              <a:t>Common Algorithms</a:t>
            </a:r>
          </a:p>
          <a:p>
            <a:r>
              <a:rPr lang="en-US" dirty="0"/>
              <a:t>K-Means</a:t>
            </a:r>
          </a:p>
          <a:p>
            <a:r>
              <a:rPr lang="en-US" dirty="0"/>
              <a:t>Hierarchical Clustering</a:t>
            </a:r>
          </a:p>
          <a:p>
            <a:r>
              <a:rPr lang="en-US" dirty="0" err="1"/>
              <a:t>Apriori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642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BC194-4CD3-F9E6-0C1E-6DFC137A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Semi-Supervised Learning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774B8-7499-DA80-99A4-36E15971C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2599" y="640080"/>
            <a:ext cx="6938010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7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9327-AC68-B7B1-3B5A-5EA6C546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E2804-1C95-C123-60CA-C1133F6C6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/>
          </a:bodyPr>
          <a:lstStyle/>
          <a:p>
            <a:r>
              <a:rPr lang="en-US" b="1" dirty="0"/>
              <a:t>Semi-Supervised Learning</a:t>
            </a:r>
            <a:r>
              <a:rPr lang="en-US" dirty="0"/>
              <a:t> uses </a:t>
            </a:r>
            <a:r>
              <a:rPr lang="en-US" b="1" dirty="0"/>
              <a:t>small labeled data + large unlabeled data</a:t>
            </a:r>
            <a:r>
              <a:rPr lang="en-US" dirty="0"/>
              <a:t>.</a:t>
            </a:r>
          </a:p>
          <a:p>
            <a:r>
              <a:rPr lang="en-US" dirty="0"/>
              <a:t>Combination of supervised and unsupervised learning.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Why Needed?</a:t>
            </a:r>
          </a:p>
          <a:p>
            <a:r>
              <a:rPr lang="en-US" dirty="0"/>
              <a:t>Labeling data is </a:t>
            </a:r>
            <a:r>
              <a:rPr lang="en-US" b="1" dirty="0"/>
              <a:t>expensive and time-consuming</a:t>
            </a:r>
            <a:endParaRPr lang="en-US" dirty="0"/>
          </a:p>
          <a:p>
            <a:r>
              <a:rPr lang="en-US" dirty="0"/>
              <a:t>Large unlabeled data is easily available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How it Works</a:t>
            </a:r>
          </a:p>
          <a:p>
            <a:r>
              <a:rPr lang="en-US" dirty="0"/>
              <a:t>Model learns from labeled data</a:t>
            </a:r>
          </a:p>
          <a:p>
            <a:r>
              <a:rPr lang="en-US" dirty="0"/>
              <a:t>Improves learning using unlabeled data</a:t>
            </a:r>
          </a:p>
        </p:txBody>
      </p:sp>
    </p:spTree>
    <p:extLst>
      <p:ext uri="{BB962C8B-B14F-4D97-AF65-F5344CB8AC3E}">
        <p14:creationId xmlns:p14="http://schemas.microsoft.com/office/powerpoint/2010/main" val="822696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6B98-1AA4-7130-3C97-0841E2DB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57571-FE35-13C0-07B6-60B81440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32500" lnSpcReduction="20000"/>
          </a:bodyPr>
          <a:lstStyle/>
          <a:p>
            <a:r>
              <a:rPr lang="en-IN" b="1" dirty="0"/>
              <a:t>Examples</a:t>
            </a:r>
          </a:p>
          <a:p>
            <a:r>
              <a:rPr lang="en-IN" b="1" dirty="0"/>
              <a:t>Face recognition </a:t>
            </a:r>
            <a:r>
              <a:rPr lang="en-IN" dirty="0"/>
              <a:t>- </a:t>
            </a:r>
            <a:r>
              <a:rPr lang="en-US" dirty="0"/>
              <a:t>Recognize whose face it is from an image.</a:t>
            </a:r>
          </a:p>
          <a:p>
            <a:r>
              <a:rPr lang="en-US" dirty="0"/>
              <a:t>Few images are labeled  (Example: “This is Vedant”, “This is Aman”)</a:t>
            </a:r>
          </a:p>
          <a:p>
            <a:r>
              <a:rPr lang="en-US" dirty="0"/>
              <a:t>Thousands of images are unlabeled -we don’t know which one is which. These images may belong to Vedant, Aman, or even new people, but no name is attached.</a:t>
            </a:r>
          </a:p>
          <a:p>
            <a:r>
              <a:rPr lang="en-US" dirty="0"/>
              <a:t>From labeled images, model learns:</a:t>
            </a:r>
          </a:p>
          <a:p>
            <a:r>
              <a:rPr lang="en-US" dirty="0"/>
              <a:t>Vedant’s face features</a:t>
            </a:r>
          </a:p>
          <a:p>
            <a:r>
              <a:rPr lang="en-US" dirty="0"/>
              <a:t>Aman’s face features</a:t>
            </a:r>
          </a:p>
          <a:p>
            <a:r>
              <a:rPr lang="en-US" dirty="0"/>
              <a:t>If an unlabeled image looks very similar to Vedant’s labeled faces,</a:t>
            </a:r>
            <a:br>
              <a:rPr lang="en-US" dirty="0"/>
            </a:br>
            <a:r>
              <a:rPr lang="en-US" dirty="0"/>
              <a:t>the model assumes it belongs to Vedant.</a:t>
            </a:r>
          </a:p>
          <a:p>
            <a:r>
              <a:rPr lang="en-US" dirty="0"/>
              <a:t>This process is called pseudo-labeling</a:t>
            </a:r>
          </a:p>
          <a:p>
            <a:r>
              <a:rPr lang="en-US" dirty="0"/>
              <a:t>What if unlabeled images contain new people?</a:t>
            </a:r>
          </a:p>
          <a:p>
            <a:r>
              <a:rPr lang="en-US" dirty="0"/>
              <a:t>That is also possible.</a:t>
            </a:r>
          </a:p>
          <a:p>
            <a:r>
              <a:rPr lang="en-US" dirty="0"/>
              <a:t>Model may:</a:t>
            </a:r>
          </a:p>
          <a:p>
            <a:pPr lvl="1"/>
            <a:r>
              <a:rPr lang="en-US" dirty="0"/>
              <a:t>Ignore them</a:t>
            </a:r>
          </a:p>
          <a:p>
            <a:pPr lvl="1"/>
            <a:r>
              <a:rPr lang="en-US" dirty="0"/>
              <a:t>Or create a separate group</a:t>
            </a:r>
          </a:p>
          <a:p>
            <a:pPr lvl="1"/>
            <a:r>
              <a:rPr lang="en-US" dirty="0"/>
              <a:t>Or need later human labeling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IN" b="1" dirty="0"/>
              <a:t>Real-Life Applications</a:t>
            </a:r>
          </a:p>
          <a:p>
            <a:r>
              <a:rPr lang="en-IN" dirty="0"/>
              <a:t>Mobile face unlock</a:t>
            </a:r>
          </a:p>
          <a:p>
            <a:r>
              <a:rPr lang="en-IN" dirty="0"/>
              <a:t>Attendance systems</a:t>
            </a:r>
          </a:p>
          <a:p>
            <a:r>
              <a:rPr lang="en-IN" dirty="0"/>
              <a:t>CCTV surveillance</a:t>
            </a:r>
          </a:p>
          <a:p>
            <a:endParaRPr lang="en-US" dirty="0"/>
          </a:p>
          <a:p>
            <a:r>
              <a:rPr lang="en-US" b="1" dirty="0"/>
              <a:t>Simple Example - </a:t>
            </a:r>
          </a:p>
          <a:p>
            <a:r>
              <a:rPr lang="en-US" dirty="0"/>
              <a:t>Teacher gives </a:t>
            </a:r>
            <a:r>
              <a:rPr lang="en-US" b="1" dirty="0"/>
              <a:t>5 solved examples</a:t>
            </a:r>
            <a:r>
              <a:rPr lang="en-US" dirty="0"/>
              <a:t> (labeled)</a:t>
            </a:r>
          </a:p>
          <a:p>
            <a:r>
              <a:rPr lang="en-US" dirty="0"/>
              <a:t>Student practices </a:t>
            </a:r>
            <a:r>
              <a:rPr lang="en-US" b="1" dirty="0"/>
              <a:t>100 unsolved questions</a:t>
            </a:r>
            <a:r>
              <a:rPr lang="en-US" dirty="0"/>
              <a:t> (unlabeled)</a:t>
            </a:r>
          </a:p>
          <a:p>
            <a:r>
              <a:rPr lang="en-US" dirty="0"/>
              <a:t>Student </a:t>
            </a:r>
            <a:r>
              <a:rPr lang="en-US" b="1" dirty="0"/>
              <a:t>learns patterns</a:t>
            </a:r>
            <a:r>
              <a:rPr lang="en-US" dirty="0"/>
              <a:t>, even without answers</a:t>
            </a:r>
          </a:p>
        </p:txBody>
      </p:sp>
    </p:spTree>
    <p:extLst>
      <p:ext uri="{BB962C8B-B14F-4D97-AF65-F5344CB8AC3E}">
        <p14:creationId xmlns:p14="http://schemas.microsoft.com/office/powerpoint/2010/main" val="1470136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14C5-899B-6A24-9416-678CF4D5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7CF95-6705-6877-A8DD-3CC06460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Speech Recognition </a:t>
            </a:r>
            <a:r>
              <a:rPr lang="en-IN" dirty="0"/>
              <a:t>– </a:t>
            </a:r>
            <a:r>
              <a:rPr lang="en-US" dirty="0"/>
              <a:t>Convert spoken voice into text.</a:t>
            </a:r>
          </a:p>
          <a:p>
            <a:r>
              <a:rPr lang="en-US" dirty="0"/>
              <a:t>Few audio files have correct transcripts</a:t>
            </a:r>
          </a:p>
          <a:p>
            <a:r>
              <a:rPr lang="en-US" dirty="0"/>
              <a:t>Large amount of audio data has no text</a:t>
            </a:r>
          </a:p>
          <a:p>
            <a:endParaRPr lang="en-US" dirty="0"/>
          </a:p>
          <a:p>
            <a:r>
              <a:rPr lang="en-US" dirty="0"/>
              <a:t>How Semi-Supervised Learning Works</a:t>
            </a:r>
          </a:p>
          <a:p>
            <a:r>
              <a:rPr lang="en-US" dirty="0"/>
              <a:t>Model learns speech patterns from labeled audio</a:t>
            </a:r>
          </a:p>
          <a:p>
            <a:r>
              <a:rPr lang="en-US" dirty="0"/>
              <a:t>Improves pronunciation and accent understanding using unlabeled audio</a:t>
            </a:r>
          </a:p>
          <a:p>
            <a:r>
              <a:rPr lang="en-US" dirty="0"/>
              <a:t>Produces better text output</a:t>
            </a:r>
          </a:p>
          <a:p>
            <a:endParaRPr lang="en-US" dirty="0"/>
          </a:p>
          <a:p>
            <a:r>
              <a:rPr lang="en-US" b="1" dirty="0"/>
              <a:t>Real-Life Applications</a:t>
            </a:r>
          </a:p>
          <a:p>
            <a:r>
              <a:rPr lang="en-US" dirty="0"/>
              <a:t>Google Assistant</a:t>
            </a:r>
          </a:p>
          <a:p>
            <a:r>
              <a:rPr lang="en-US" dirty="0"/>
              <a:t>Alexa</a:t>
            </a:r>
          </a:p>
          <a:p>
            <a:r>
              <a:rPr lang="en-US" dirty="0"/>
              <a:t>Voice typing</a:t>
            </a:r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572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8163-C6F1-1860-1E76-40C80D7C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F8D8A-753C-F79B-8A7A-E31723AEC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Medical Image Analysis - </a:t>
            </a:r>
            <a:r>
              <a:rPr lang="en-US" dirty="0"/>
              <a:t>Detect diseases from </a:t>
            </a:r>
            <a:r>
              <a:rPr lang="en-US" b="1" dirty="0"/>
              <a:t>X-ray, MRI, CT scans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Data Situation</a:t>
            </a:r>
          </a:p>
          <a:p>
            <a:r>
              <a:rPr lang="en-US" dirty="0"/>
              <a:t>Few images are labeled by </a:t>
            </a:r>
            <a:r>
              <a:rPr lang="en-US" b="1" dirty="0"/>
              <a:t>doctors</a:t>
            </a:r>
            <a:endParaRPr lang="en-US" dirty="0"/>
          </a:p>
          <a:p>
            <a:r>
              <a:rPr lang="en-US" dirty="0"/>
              <a:t>Huge number of medical images are unlabeled</a:t>
            </a:r>
          </a:p>
          <a:p>
            <a:endParaRPr lang="en-US" dirty="0"/>
          </a:p>
          <a:p>
            <a:r>
              <a:rPr lang="en-US" b="1" dirty="0"/>
              <a:t>How Semi-Supervised Learning Works</a:t>
            </a:r>
          </a:p>
          <a:p>
            <a:r>
              <a:rPr lang="en-US" dirty="0"/>
              <a:t>Model learns disease features from labeled scans</a:t>
            </a:r>
          </a:p>
          <a:p>
            <a:r>
              <a:rPr lang="en-US" dirty="0"/>
              <a:t>Uses unlabeled scans to improve accuracy</a:t>
            </a:r>
          </a:p>
          <a:p>
            <a:r>
              <a:rPr lang="en-US" dirty="0"/>
              <a:t>Helps in early and fast diagnosis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Why Semi-Supervised?</a:t>
            </a:r>
          </a:p>
          <a:p>
            <a:r>
              <a:rPr lang="en-US" dirty="0"/>
              <a:t>Doctor labeling is </a:t>
            </a:r>
            <a:r>
              <a:rPr lang="en-US" b="1" dirty="0"/>
              <a:t>costly and slow</a:t>
            </a:r>
            <a:endParaRPr lang="en-US" dirty="0"/>
          </a:p>
          <a:p>
            <a:r>
              <a:rPr lang="en-US" dirty="0"/>
              <a:t>Medical images have similar patterns</a:t>
            </a:r>
          </a:p>
          <a:p>
            <a:endParaRPr lang="en-US" dirty="0"/>
          </a:p>
          <a:p>
            <a:r>
              <a:rPr lang="en-US" b="1" dirty="0"/>
              <a:t>Real-Life Applications</a:t>
            </a:r>
          </a:p>
          <a:p>
            <a:r>
              <a:rPr lang="en-US" dirty="0"/>
              <a:t>Cancer detection</a:t>
            </a:r>
          </a:p>
          <a:p>
            <a:r>
              <a:rPr lang="en-US" dirty="0"/>
              <a:t>Tumor identification</a:t>
            </a:r>
          </a:p>
          <a:p>
            <a:r>
              <a:rPr lang="en-US" dirty="0"/>
              <a:t>Disease diagnosis support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20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510AE-38C4-549A-17C4-0D8BA68F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6F3E-50D8-C901-C513-83ABBEBA7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IN" sz="1800"/>
              <a:t>Comparison Table</a:t>
            </a:r>
          </a:p>
          <a:p>
            <a:endParaRPr lang="en-US" sz="1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CC8E8D-2585-005C-1651-572F7A702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810663"/>
              </p:ext>
            </p:extLst>
          </p:nvPr>
        </p:nvGraphicFramePr>
        <p:xfrm>
          <a:off x="1276968" y="2734056"/>
          <a:ext cx="9726458" cy="34838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60785">
                  <a:extLst>
                    <a:ext uri="{9D8B030D-6E8A-4147-A177-3AD203B41FA5}">
                      <a16:colId xmlns:a16="http://schemas.microsoft.com/office/drawing/2014/main" val="1963591264"/>
                    </a:ext>
                  </a:extLst>
                </a:gridCol>
                <a:gridCol w="2298860">
                  <a:extLst>
                    <a:ext uri="{9D8B030D-6E8A-4147-A177-3AD203B41FA5}">
                      <a16:colId xmlns:a16="http://schemas.microsoft.com/office/drawing/2014/main" val="307988324"/>
                    </a:ext>
                  </a:extLst>
                </a:gridCol>
                <a:gridCol w="2489360">
                  <a:extLst>
                    <a:ext uri="{9D8B030D-6E8A-4147-A177-3AD203B41FA5}">
                      <a16:colId xmlns:a16="http://schemas.microsoft.com/office/drawing/2014/main" val="2542523700"/>
                    </a:ext>
                  </a:extLst>
                </a:gridCol>
                <a:gridCol w="2477453">
                  <a:extLst>
                    <a:ext uri="{9D8B030D-6E8A-4147-A177-3AD203B41FA5}">
                      <a16:colId xmlns:a16="http://schemas.microsoft.com/office/drawing/2014/main" val="3824390566"/>
                    </a:ext>
                  </a:extLst>
                </a:gridCol>
              </a:tblGrid>
              <a:tr h="58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cap="none" spc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cap="none" spc="0">
                          <a:solidFill>
                            <a:schemeClr val="tx1"/>
                          </a:solidFill>
                        </a:rPr>
                        <a:t>Supervised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cap="none" spc="0">
                          <a:solidFill>
                            <a:schemeClr val="tx1"/>
                          </a:solidFill>
                        </a:rPr>
                        <a:t>Unsupervised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 cap="none" spc="0" dirty="0">
                          <a:solidFill>
                            <a:schemeClr val="tx1"/>
                          </a:solidFill>
                        </a:rPr>
                        <a:t>Semi-Supervised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73126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Labeled data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224800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Human guidance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93739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725446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Cost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80817"/>
                  </a:ext>
                </a:extLst>
              </a:tr>
              <a:tr h="58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Spam detection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Customer groups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 dirty="0">
                          <a:solidFill>
                            <a:schemeClr val="tx1"/>
                          </a:solidFill>
                        </a:rPr>
                        <a:t>Face recognition</a:t>
                      </a:r>
                    </a:p>
                  </a:txBody>
                  <a:tcPr marL="137160" marR="137160" marT="137160" marB="685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684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66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86FD-2E53-8AF6-8939-B81507BE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B81C0-13C8-669C-CB02-D45A3A896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1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1997</Words>
  <Application>Microsoft Office PowerPoint</Application>
  <PresentationFormat>Widescreen</PresentationFormat>
  <Paragraphs>447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Office Theme</vt:lpstr>
      <vt:lpstr>Introduction to Machine Learning</vt:lpstr>
      <vt:lpstr>What is machine learning? </vt:lpstr>
      <vt:lpstr>PowerPoint Presentation</vt:lpstr>
      <vt:lpstr>Relationship Between AI, ML, and DL</vt:lpstr>
      <vt:lpstr>PowerPoint Presentation</vt:lpstr>
      <vt:lpstr>PowerPoint Presentation</vt:lpstr>
      <vt:lpstr>PowerPoint Presentation</vt:lpstr>
      <vt:lpstr>Machine Learning: Basic Terminology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Working  Of Machine Learning Model</vt:lpstr>
      <vt:lpstr>PowerPoint Presentation</vt:lpstr>
      <vt:lpstr>PowerPoint Presentation</vt:lpstr>
      <vt:lpstr>PowerPoint Presentation</vt:lpstr>
      <vt:lpstr>PowerPoint Presentation</vt:lpstr>
      <vt:lpstr>Types of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Semi-Supervised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Kamboj</dc:creator>
  <cp:lastModifiedBy>Rohit Kamboj</cp:lastModifiedBy>
  <cp:revision>148</cp:revision>
  <dcterms:created xsi:type="dcterms:W3CDTF">2026-01-12T08:51:51Z</dcterms:created>
  <dcterms:modified xsi:type="dcterms:W3CDTF">2026-01-20T02:09:24Z</dcterms:modified>
</cp:coreProperties>
</file>